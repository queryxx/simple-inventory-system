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5" r:id="rId2"/>
    <p:sldId id="256" r:id="rId3"/>
    <p:sldId id="257" r:id="rId4"/>
    <p:sldId id="258" r:id="rId5"/>
    <p:sldId id="259" r:id="rId6"/>
    <p:sldId id="260" r:id="rId7"/>
    <p:sldId id="261" r:id="rId8"/>
    <p:sldId id="262" r:id="rId9"/>
    <p:sldId id="263" r:id="rId10"/>
    <p:sldId id="264" r:id="rId1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485"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942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27676-99CD-2249-F6AC-95483EA1D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C1362-47F5-D26B-327D-1FE2F70E3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3C7DA3-E2F0-B310-60D4-4F13F52015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33873F-0197-847B-5E5A-5B724F1D1263}"/>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588336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7D8E3-59AB-79B9-CF67-4630357348CC}"/>
            </a:ext>
          </a:extLst>
        </p:cNvPr>
        <p:cNvGrpSpPr/>
        <p:nvPr/>
      </p:nvGrpSpPr>
      <p:grpSpPr>
        <a:xfrm>
          <a:off x="0" y="0"/>
          <a:ext cx="0" cy="0"/>
          <a:chOff x="0" y="0"/>
          <a:chExt cx="0" cy="0"/>
        </a:xfrm>
      </p:grpSpPr>
      <p:pic>
        <p:nvPicPr>
          <p:cNvPr id="9" name="Picture 8" descr="A white background with dots and lines&#10;&#10;AI-generated content may be incorrect.">
            <a:extLst>
              <a:ext uri="{FF2B5EF4-FFF2-40B4-BE49-F238E27FC236}">
                <a16:creationId xmlns:a16="http://schemas.microsoft.com/office/drawing/2014/main" id="{1306671F-50DC-B6F2-FAC9-90EC8147C03C}"/>
              </a:ext>
            </a:extLst>
          </p:cNvPr>
          <p:cNvPicPr>
            <a:picLocks noChangeAspect="1"/>
          </p:cNvPicPr>
          <p:nvPr/>
        </p:nvPicPr>
        <p:blipFill>
          <a:blip r:embed="rId3"/>
          <a:stretch>
            <a:fillRect/>
          </a:stretch>
        </p:blipFill>
        <p:spPr>
          <a:xfrm>
            <a:off x="0" y="0"/>
            <a:ext cx="14630400" cy="8229600"/>
          </a:xfrm>
          <a:prstGeom prst="rect">
            <a:avLst/>
          </a:prstGeom>
        </p:spPr>
      </p:pic>
      <p:sp>
        <p:nvSpPr>
          <p:cNvPr id="7" name="TextBox 6">
            <a:extLst>
              <a:ext uri="{FF2B5EF4-FFF2-40B4-BE49-F238E27FC236}">
                <a16:creationId xmlns:a16="http://schemas.microsoft.com/office/drawing/2014/main" id="{1A77C4CB-D0A9-ABE2-EC0E-0534143144AA}"/>
              </a:ext>
            </a:extLst>
          </p:cNvPr>
          <p:cNvSpPr txBox="1"/>
          <p:nvPr/>
        </p:nvSpPr>
        <p:spPr>
          <a:xfrm>
            <a:off x="3578514" y="4585666"/>
            <a:ext cx="7315200" cy="2499467"/>
          </a:xfrm>
          <a:prstGeom prst="rect">
            <a:avLst/>
          </a:prstGeom>
          <a:noFill/>
        </p:spPr>
        <p:txBody>
          <a:bodyPr wrap="square">
            <a:spAutoFit/>
          </a:bodyPr>
          <a:lstStyle/>
          <a:p>
            <a:pPr marL="0" indent="0" algn="ctr">
              <a:lnSpc>
                <a:spcPct val="150000"/>
              </a:lnSpc>
              <a:buNone/>
            </a:pPr>
            <a:r>
              <a:rPr lang="en-US" sz="3600" b="1" dirty="0">
                <a:solidFill>
                  <a:srgbClr val="000000"/>
                </a:solidFill>
                <a:latin typeface="Inter Bold" pitchFamily="34" charset="0"/>
                <a:ea typeface="Inter Bold" pitchFamily="34" charset="-122"/>
                <a:cs typeface="Inter Bold" pitchFamily="34" charset="-120"/>
              </a:rPr>
              <a:t>John Rix Domaoal</a:t>
            </a:r>
            <a:br>
              <a:rPr lang="en-US" sz="3600" b="1" dirty="0">
                <a:solidFill>
                  <a:srgbClr val="000000"/>
                </a:solidFill>
                <a:latin typeface="Inter Bold" pitchFamily="34" charset="0"/>
                <a:ea typeface="Inter Bold" pitchFamily="34" charset="-122"/>
                <a:cs typeface="Inter Bold" pitchFamily="34" charset="-120"/>
              </a:rPr>
            </a:br>
            <a:r>
              <a:rPr lang="en-US" sz="3600" b="1" dirty="0">
                <a:solidFill>
                  <a:srgbClr val="000000"/>
                </a:solidFill>
                <a:latin typeface="Inter Bold" pitchFamily="34" charset="0"/>
                <a:ea typeface="Inter Bold" pitchFamily="34" charset="-122"/>
                <a:cs typeface="Inter Bold" pitchFamily="34" charset="-120"/>
              </a:rPr>
              <a:t>Mercy Alcaide</a:t>
            </a:r>
            <a:br>
              <a:rPr lang="en-US" sz="3600" b="1" dirty="0">
                <a:solidFill>
                  <a:srgbClr val="000000"/>
                </a:solidFill>
                <a:latin typeface="Inter Bold" pitchFamily="34" charset="0"/>
                <a:ea typeface="Inter Bold" pitchFamily="34" charset="-122"/>
                <a:cs typeface="Inter Bold" pitchFamily="34" charset="-120"/>
              </a:rPr>
            </a:br>
            <a:r>
              <a:rPr lang="en-US" sz="3600" b="1" dirty="0">
                <a:solidFill>
                  <a:srgbClr val="000000"/>
                </a:solidFill>
                <a:latin typeface="Inter Bold" pitchFamily="34" charset="0"/>
                <a:ea typeface="Inter Bold" pitchFamily="34" charset="-122"/>
                <a:cs typeface="Inter Bold" pitchFamily="34" charset="-120"/>
              </a:rPr>
              <a:t>Yvonne </a:t>
            </a:r>
            <a:r>
              <a:rPr lang="en-US" sz="3600" b="1">
                <a:solidFill>
                  <a:srgbClr val="000000"/>
                </a:solidFill>
                <a:latin typeface="Inter Bold" pitchFamily="34" charset="0"/>
                <a:ea typeface="Inter Bold" pitchFamily="34" charset="-122"/>
                <a:cs typeface="Inter Bold" pitchFamily="34" charset="-120"/>
              </a:rPr>
              <a:t>Kate Banigan</a:t>
            </a:r>
            <a:endParaRPr lang="en-US" sz="3600" dirty="0"/>
          </a:p>
        </p:txBody>
      </p:sp>
      <p:sp>
        <p:nvSpPr>
          <p:cNvPr id="3" name="Text 0">
            <a:extLst>
              <a:ext uri="{FF2B5EF4-FFF2-40B4-BE49-F238E27FC236}">
                <a16:creationId xmlns:a16="http://schemas.microsoft.com/office/drawing/2014/main" id="{339BCE79-BBE6-3A10-E278-DC4DDA76EEDE}"/>
              </a:ext>
            </a:extLst>
          </p:cNvPr>
          <p:cNvSpPr/>
          <p:nvPr/>
        </p:nvSpPr>
        <p:spPr>
          <a:xfrm>
            <a:off x="2982440" y="2671970"/>
            <a:ext cx="9506348" cy="1147569"/>
          </a:xfrm>
          <a:prstGeom prst="rect">
            <a:avLst/>
          </a:prstGeom>
          <a:noFill/>
          <a:ln/>
        </p:spPr>
        <p:txBody>
          <a:bodyPr wrap="square" lIns="0" tIns="0" rIns="0" bIns="0" rtlCol="0" anchor="t"/>
          <a:lstStyle/>
          <a:p>
            <a:pPr marL="0" indent="0" algn="ctr">
              <a:lnSpc>
                <a:spcPts val="5550"/>
              </a:lnSpc>
              <a:buNone/>
            </a:pPr>
            <a:r>
              <a:rPr lang="en-US" sz="8000" b="1" dirty="0">
                <a:solidFill>
                  <a:srgbClr val="000000"/>
                </a:solidFill>
                <a:latin typeface="Inter Bold" pitchFamily="34" charset="0"/>
                <a:ea typeface="Inter Bold" pitchFamily="34" charset="-122"/>
                <a:cs typeface="Inter Bold" pitchFamily="34" charset="-120"/>
              </a:rPr>
              <a:t>Inventory System	</a:t>
            </a:r>
          </a:p>
        </p:txBody>
      </p:sp>
    </p:spTree>
    <p:extLst>
      <p:ext uri="{BB962C8B-B14F-4D97-AF65-F5344CB8AC3E}">
        <p14:creationId xmlns:p14="http://schemas.microsoft.com/office/powerpoint/2010/main" val="1940644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6" name="Picture 5" descr="A white background with dots and lines&#10;&#10;AI-generated content may be incorrect.">
            <a:extLst>
              <a:ext uri="{FF2B5EF4-FFF2-40B4-BE49-F238E27FC236}">
                <a16:creationId xmlns:a16="http://schemas.microsoft.com/office/drawing/2014/main" id="{B3DC16A3-4B83-FBD3-50B1-98EB8A3E90AE}"/>
              </a:ext>
            </a:extLst>
          </p:cNvPr>
          <p:cNvPicPr>
            <a:picLocks noChangeAspect="1"/>
          </p:cNvPicPr>
          <p:nvPr/>
        </p:nvPicPr>
        <p:blipFill>
          <a:blip r:embed="rId3"/>
          <a:stretch>
            <a:fillRect/>
          </a:stretch>
        </p:blipFill>
        <p:spPr>
          <a:xfrm>
            <a:off x="0" y="0"/>
            <a:ext cx="14630400" cy="8229600"/>
          </a:xfrm>
          <a:prstGeom prst="rect">
            <a:avLst/>
          </a:prstGeom>
        </p:spPr>
      </p:pic>
      <p:pic>
        <p:nvPicPr>
          <p:cNvPr id="2" name="Image 0" descr="preencoded.png"/>
          <p:cNvPicPr>
            <a:picLocks noChangeAspect="1"/>
          </p:cNvPicPr>
          <p:nvPr/>
        </p:nvPicPr>
        <p:blipFill>
          <a:blip r:embed="rId4"/>
          <a:srcRect b="8430"/>
          <a:stretch/>
        </p:blipFill>
        <p:spPr>
          <a:xfrm>
            <a:off x="8797159" y="1"/>
            <a:ext cx="5833241" cy="8229600"/>
          </a:xfrm>
          <a:prstGeom prst="rect">
            <a:avLst/>
          </a:prstGeom>
        </p:spPr>
      </p:pic>
      <p:sp>
        <p:nvSpPr>
          <p:cNvPr id="3" name="Text 0"/>
          <p:cNvSpPr/>
          <p:nvPr/>
        </p:nvSpPr>
        <p:spPr>
          <a:xfrm>
            <a:off x="793790" y="1656755"/>
            <a:ext cx="469261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Inventory System </a:t>
            </a:r>
            <a:endParaRPr lang="en-US" sz="4450" dirty="0"/>
          </a:p>
        </p:txBody>
      </p:sp>
      <p:sp>
        <p:nvSpPr>
          <p:cNvPr id="4" name="Text 1"/>
          <p:cNvSpPr/>
          <p:nvPr/>
        </p:nvSpPr>
        <p:spPr>
          <a:xfrm>
            <a:off x="793790" y="3414474"/>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presentation highlights a comprehensive inventory system designed for efficient business operations. It features secure login and registration capabilities, allowing users to access and manage their accounts reliably.</a:t>
            </a:r>
            <a:endParaRPr lang="en-US" sz="1750" dirty="0"/>
          </a:p>
        </p:txBody>
      </p:sp>
      <p:sp>
        <p:nvSpPr>
          <p:cNvPr id="5" name="Text 2"/>
          <p:cNvSpPr/>
          <p:nvPr/>
        </p:nvSpPr>
        <p:spPr>
          <a:xfrm>
            <a:off x="793790" y="512123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system facilitates product management through functionalities to add, edit, and delete products. Additionally, it supports advanced features to search for items quickly and export product data as CSV files, enhancing data portability and reporting.</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7" name="Picture 6" descr="A white background with dots and lines">
            <a:extLst>
              <a:ext uri="{FF2B5EF4-FFF2-40B4-BE49-F238E27FC236}">
                <a16:creationId xmlns:a16="http://schemas.microsoft.com/office/drawing/2014/main" id="{F412A4FD-E3F0-6A85-D602-535EDF38909E}"/>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793790" y="2358509"/>
            <a:ext cx="12075438"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User Authentication: Login and Registration</a:t>
            </a:r>
            <a:endParaRPr lang="en-US" sz="4450" dirty="0"/>
          </a:p>
        </p:txBody>
      </p:sp>
      <p:sp>
        <p:nvSpPr>
          <p:cNvPr id="3" name="Text 1"/>
          <p:cNvSpPr/>
          <p:nvPr/>
        </p:nvSpPr>
        <p:spPr>
          <a:xfrm>
            <a:off x="793790" y="363426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Login Feature</a:t>
            </a:r>
            <a:endParaRPr lang="en-US" sz="2200" dirty="0"/>
          </a:p>
        </p:txBody>
      </p:sp>
      <p:sp>
        <p:nvSpPr>
          <p:cNvPr id="4" name="Text 2"/>
          <p:cNvSpPr/>
          <p:nvPr/>
        </p:nvSpPr>
        <p:spPr>
          <a:xfrm>
            <a:off x="793790" y="4215408"/>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login function ensures secure access by validating user credentials against stored data. It supports standard error handling for invalid inputs and maintains session integrity throughout usage.</a:t>
            </a:r>
            <a:endParaRPr lang="en-US" sz="1750" dirty="0"/>
          </a:p>
        </p:txBody>
      </p:sp>
      <p:sp>
        <p:nvSpPr>
          <p:cNvPr id="5" name="Text 3"/>
          <p:cNvSpPr/>
          <p:nvPr/>
        </p:nvSpPr>
        <p:spPr>
          <a:xfrm>
            <a:off x="7599521" y="3634264"/>
            <a:ext cx="2862501"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Registration Process</a:t>
            </a:r>
            <a:endParaRPr lang="en-US" sz="2200" dirty="0"/>
          </a:p>
        </p:txBody>
      </p:sp>
      <p:sp>
        <p:nvSpPr>
          <p:cNvPr id="6" name="Text 4"/>
          <p:cNvSpPr/>
          <p:nvPr/>
        </p:nvSpPr>
        <p:spPr>
          <a:xfrm>
            <a:off x="7599521" y="4215408"/>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Users can create new accounts by providing necessary information including username, and password. The system enforces password complexity and uniqueness of user identifiers for security.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10" name="Picture 9" descr="A white background with dots and lines&#10;&#10;AI-generated content may be incorrect.">
            <a:extLst>
              <a:ext uri="{FF2B5EF4-FFF2-40B4-BE49-F238E27FC236}">
                <a16:creationId xmlns:a16="http://schemas.microsoft.com/office/drawing/2014/main" id="{23555193-23E3-E906-F5AD-74B2D825547C}"/>
              </a:ext>
            </a:extLst>
          </p:cNvPr>
          <p:cNvPicPr>
            <a:picLocks noChangeAspect="1"/>
          </p:cNvPicPr>
          <p:nvPr/>
        </p:nvPicPr>
        <p:blipFill>
          <a:blip r:embed="rId3"/>
          <a:stretch>
            <a:fillRect/>
          </a:stretch>
        </p:blipFill>
        <p:spPr>
          <a:xfrm>
            <a:off x="0" y="0"/>
            <a:ext cx="14630400" cy="8229600"/>
          </a:xfrm>
          <a:prstGeom prst="rect">
            <a:avLst/>
          </a:prstGeom>
        </p:spPr>
      </p:pic>
      <p:pic>
        <p:nvPicPr>
          <p:cNvPr id="2" name="Image 0" descr="preencoded.png"/>
          <p:cNvPicPr>
            <a:picLocks noChangeAspect="1"/>
          </p:cNvPicPr>
          <p:nvPr/>
        </p:nvPicPr>
        <p:blipFill>
          <a:blip r:embed="rId4"/>
          <a:stretch>
            <a:fillRect/>
          </a:stretch>
        </p:blipFill>
        <p:spPr>
          <a:xfrm>
            <a:off x="0" y="0"/>
            <a:ext cx="5486400" cy="8229600"/>
          </a:xfrm>
          <a:prstGeom prst="rect">
            <a:avLst/>
          </a:prstGeom>
        </p:spPr>
      </p:pic>
      <p:sp>
        <p:nvSpPr>
          <p:cNvPr id="3" name="Text 0"/>
          <p:cNvSpPr/>
          <p:nvPr/>
        </p:nvSpPr>
        <p:spPr>
          <a:xfrm>
            <a:off x="6280190" y="1352074"/>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Product Management: Add and Edit Products</a:t>
            </a:r>
            <a:endParaRPr lang="en-US" sz="4450" dirty="0"/>
          </a:p>
        </p:txBody>
      </p:sp>
      <p:sp>
        <p:nvSpPr>
          <p:cNvPr id="4" name="Shape 1"/>
          <p:cNvSpPr/>
          <p:nvPr/>
        </p:nvSpPr>
        <p:spPr>
          <a:xfrm>
            <a:off x="6280190" y="3109793"/>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5" name="Text 2"/>
          <p:cNvSpPr/>
          <p:nvPr/>
        </p:nvSpPr>
        <p:spPr>
          <a:xfrm>
            <a:off x="7017306" y="318766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Add Product</a:t>
            </a:r>
            <a:endParaRPr lang="en-US" sz="2200" dirty="0"/>
          </a:p>
        </p:txBody>
      </p:sp>
      <p:sp>
        <p:nvSpPr>
          <p:cNvPr id="6" name="Text 3"/>
          <p:cNvSpPr/>
          <p:nvPr/>
        </p:nvSpPr>
        <p:spPr>
          <a:xfrm>
            <a:off x="7017306" y="3678079"/>
            <a:ext cx="681930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Users can input product details such as </a:t>
            </a:r>
            <a:r>
              <a:rPr lang="en-US" sz="1750" b="1" dirty="0">
                <a:solidFill>
                  <a:srgbClr val="272525"/>
                </a:solidFill>
                <a:latin typeface="Inter" pitchFamily="34" charset="0"/>
                <a:ea typeface="Inter" pitchFamily="34" charset="-122"/>
                <a:cs typeface="Inter" pitchFamily="34" charset="-120"/>
              </a:rPr>
              <a:t>name of the product, quantity, unit, and price</a:t>
            </a:r>
            <a:r>
              <a:rPr lang="en-US" sz="1750" dirty="0">
                <a:solidFill>
                  <a:srgbClr val="272525"/>
                </a:solidFill>
                <a:latin typeface="Inter" pitchFamily="34" charset="0"/>
                <a:ea typeface="Inter" pitchFamily="34" charset="-122"/>
                <a:cs typeface="Inter" pitchFamily="34" charset="-120"/>
              </a:rPr>
              <a:t>. The system validates inputs to prevent duplicates and inconsistencies.</a:t>
            </a:r>
            <a:endParaRPr lang="en-US" sz="1750" dirty="0"/>
          </a:p>
        </p:txBody>
      </p:sp>
      <p:sp>
        <p:nvSpPr>
          <p:cNvPr id="7" name="Shape 4"/>
          <p:cNvSpPr/>
          <p:nvPr/>
        </p:nvSpPr>
        <p:spPr>
          <a:xfrm>
            <a:off x="6280190" y="5220414"/>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8" name="Text 5"/>
          <p:cNvSpPr/>
          <p:nvPr/>
        </p:nvSpPr>
        <p:spPr>
          <a:xfrm>
            <a:off x="7017306" y="529828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Edit Product</a:t>
            </a:r>
            <a:endParaRPr lang="en-US" sz="2200" dirty="0"/>
          </a:p>
        </p:txBody>
      </p:sp>
      <p:sp>
        <p:nvSpPr>
          <p:cNvPr id="9" name="Text 6"/>
          <p:cNvSpPr/>
          <p:nvPr/>
        </p:nvSpPr>
        <p:spPr>
          <a:xfrm>
            <a:off x="7017306" y="5788700"/>
            <a:ext cx="681930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edit function allows updating product information dynamically, supporting accurate inventory tracking and corrections as needed.</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10" name="Picture 9" descr="A white background with dots and lines&#10;&#10;AI-generated content may be incorrect.">
            <a:extLst>
              <a:ext uri="{FF2B5EF4-FFF2-40B4-BE49-F238E27FC236}">
                <a16:creationId xmlns:a16="http://schemas.microsoft.com/office/drawing/2014/main" id="{3ED7C7A9-3172-B5A8-54B0-F6C159F270ED}"/>
              </a:ext>
            </a:extLst>
          </p:cNvPr>
          <p:cNvPicPr>
            <a:picLocks noChangeAspect="1"/>
          </p:cNvPicPr>
          <p:nvPr/>
        </p:nvPicPr>
        <p:blipFill>
          <a:blip r:embed="rId3"/>
          <a:stretch>
            <a:fillRect/>
          </a:stretch>
        </p:blipFill>
        <p:spPr>
          <a:xfrm>
            <a:off x="0" y="0"/>
            <a:ext cx="14630400" cy="8229600"/>
          </a:xfrm>
          <a:prstGeom prst="rect">
            <a:avLst/>
          </a:prstGeom>
        </p:spPr>
      </p:pic>
      <p:pic>
        <p:nvPicPr>
          <p:cNvPr id="2" name="Image 0" descr="preencoded.png"/>
          <p:cNvPicPr>
            <a:picLocks noChangeAspect="1"/>
          </p:cNvPicPr>
          <p:nvPr/>
        </p:nvPicPr>
        <p:blipFill>
          <a:blip r:embed="rId4"/>
          <a:stretch>
            <a:fillRect/>
          </a:stretch>
        </p:blipFill>
        <p:spPr>
          <a:xfrm>
            <a:off x="0" y="0"/>
            <a:ext cx="5486400" cy="8229600"/>
          </a:xfrm>
          <a:prstGeom prst="rect">
            <a:avLst/>
          </a:prstGeom>
        </p:spPr>
      </p:pic>
      <p:sp>
        <p:nvSpPr>
          <p:cNvPr id="3" name="Text 0"/>
          <p:cNvSpPr/>
          <p:nvPr/>
        </p:nvSpPr>
        <p:spPr>
          <a:xfrm>
            <a:off x="6280190" y="1255990"/>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Product Management: Delete Products</a:t>
            </a:r>
            <a:endParaRPr lang="en-US" sz="4450" dirty="0"/>
          </a:p>
        </p:txBody>
      </p:sp>
      <p:sp>
        <p:nvSpPr>
          <p:cNvPr id="4" name="Shape 1"/>
          <p:cNvSpPr/>
          <p:nvPr/>
        </p:nvSpPr>
        <p:spPr>
          <a:xfrm>
            <a:off x="6280190" y="3013710"/>
            <a:ext cx="7556421" cy="2047994"/>
          </a:xfrm>
          <a:prstGeom prst="roundRect">
            <a:avLst>
              <a:gd name="adj" fmla="val 4652"/>
            </a:avLst>
          </a:prstGeom>
          <a:solidFill>
            <a:srgbClr val="DADBF1"/>
          </a:solidFill>
          <a:ln w="7620">
            <a:solidFill>
              <a:srgbClr val="C0C1D7"/>
            </a:solidFill>
            <a:prstDash val="solid"/>
          </a:ln>
        </p:spPr>
        <p:txBody>
          <a:bodyPr/>
          <a:lstStyle/>
          <a:p>
            <a:endParaRPr lang="en-US"/>
          </a:p>
        </p:txBody>
      </p:sp>
      <p:sp>
        <p:nvSpPr>
          <p:cNvPr id="5" name="Text 2"/>
          <p:cNvSpPr/>
          <p:nvPr/>
        </p:nvSpPr>
        <p:spPr>
          <a:xfrm>
            <a:off x="6514624" y="3248144"/>
            <a:ext cx="3226237"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Safe Deletion Protocols</a:t>
            </a:r>
            <a:endParaRPr lang="en-US" sz="2200" dirty="0"/>
          </a:p>
        </p:txBody>
      </p:sp>
      <p:sp>
        <p:nvSpPr>
          <p:cNvPr id="6" name="Text 3"/>
          <p:cNvSpPr/>
          <p:nvPr/>
        </p:nvSpPr>
        <p:spPr>
          <a:xfrm>
            <a:off x="6514624" y="3738563"/>
            <a:ext cx="7087553"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system incorporates confirmation prompts to prevent accidental deletions and it has a confirmation for deletion</a:t>
            </a:r>
            <a:endParaRPr lang="en-US" sz="1750" dirty="0"/>
          </a:p>
        </p:txBody>
      </p:sp>
      <p:sp>
        <p:nvSpPr>
          <p:cNvPr id="7" name="Shape 4"/>
          <p:cNvSpPr/>
          <p:nvPr/>
        </p:nvSpPr>
        <p:spPr>
          <a:xfrm>
            <a:off x="6280190" y="5288518"/>
            <a:ext cx="7556421" cy="1685092"/>
          </a:xfrm>
          <a:prstGeom prst="roundRect">
            <a:avLst>
              <a:gd name="adj" fmla="val 5654"/>
            </a:avLst>
          </a:prstGeom>
          <a:solidFill>
            <a:srgbClr val="DADBF1"/>
          </a:solidFill>
          <a:ln w="7620">
            <a:solidFill>
              <a:srgbClr val="C0C1D7"/>
            </a:solidFill>
            <a:prstDash val="solid"/>
          </a:ln>
        </p:spPr>
        <p:txBody>
          <a:bodyPr/>
          <a:lstStyle/>
          <a:p>
            <a:endParaRPr lang="en-US"/>
          </a:p>
        </p:txBody>
      </p:sp>
      <p:sp>
        <p:nvSpPr>
          <p:cNvPr id="8" name="Text 5"/>
          <p:cNvSpPr/>
          <p:nvPr/>
        </p:nvSpPr>
        <p:spPr>
          <a:xfrm>
            <a:off x="6514624" y="55229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Impact on Inventory</a:t>
            </a:r>
            <a:endParaRPr lang="en-US" sz="2200" dirty="0"/>
          </a:p>
        </p:txBody>
      </p:sp>
      <p:sp>
        <p:nvSpPr>
          <p:cNvPr id="9" name="Text 6"/>
          <p:cNvSpPr/>
          <p:nvPr/>
        </p:nvSpPr>
        <p:spPr>
          <a:xfrm>
            <a:off x="6514624" y="6013371"/>
            <a:ext cx="7087553"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Deleting a product updates stock records and reflects changes across the system, ensuring real-time accuracy of inventory data.</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13" name="Picture 12" descr="A white background with dots and lines&#10;&#10;AI-generated content may be incorrect.">
            <a:extLst>
              <a:ext uri="{FF2B5EF4-FFF2-40B4-BE49-F238E27FC236}">
                <a16:creationId xmlns:a16="http://schemas.microsoft.com/office/drawing/2014/main" id="{E92E71FC-6B49-A6DA-D85C-D9A4472B263B}"/>
              </a:ext>
            </a:extLst>
          </p:cNvPr>
          <p:cNvPicPr>
            <a:picLocks noChangeAspect="1"/>
          </p:cNvPicPr>
          <p:nvPr/>
        </p:nvPicPr>
        <p:blipFill>
          <a:blip r:embed="rId3"/>
          <a:stretch>
            <a:fillRect/>
          </a:stretch>
        </p:blipFill>
        <p:spPr>
          <a:xfrm>
            <a:off x="21020" y="10510"/>
            <a:ext cx="14630400" cy="8229600"/>
          </a:xfrm>
          <a:prstGeom prst="rect">
            <a:avLst/>
          </a:prstGeom>
        </p:spPr>
      </p:pic>
      <p:pic>
        <p:nvPicPr>
          <p:cNvPr id="2" name="Image 0" descr="preencoded.png"/>
          <p:cNvPicPr>
            <a:picLocks noChangeAspect="1"/>
          </p:cNvPicPr>
          <p:nvPr/>
        </p:nvPicPr>
        <p:blipFill>
          <a:blip r:embed="rId4"/>
          <a:stretch>
            <a:fillRect/>
          </a:stretch>
        </p:blipFill>
        <p:spPr>
          <a:xfrm>
            <a:off x="8935641" y="0"/>
            <a:ext cx="5694759" cy="8229600"/>
          </a:xfrm>
          <a:prstGeom prst="rect">
            <a:avLst/>
          </a:prstGeom>
        </p:spPr>
      </p:pic>
      <p:sp>
        <p:nvSpPr>
          <p:cNvPr id="3" name="Text 0"/>
          <p:cNvSpPr/>
          <p:nvPr/>
        </p:nvSpPr>
        <p:spPr>
          <a:xfrm>
            <a:off x="909404" y="3023706"/>
            <a:ext cx="5694759"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Search Functionality</a:t>
            </a:r>
            <a:endParaRPr lang="en-US" sz="4450" dirty="0"/>
          </a:p>
        </p:txBody>
      </p:sp>
      <p:pic>
        <p:nvPicPr>
          <p:cNvPr id="4" name="Image 1" descr="preencoded.png"/>
          <p:cNvPicPr>
            <a:picLocks noChangeAspect="1"/>
          </p:cNvPicPr>
          <p:nvPr/>
        </p:nvPicPr>
        <p:blipFill>
          <a:blip r:embed="rId5"/>
          <a:stretch>
            <a:fillRect/>
          </a:stretch>
        </p:blipFill>
        <p:spPr>
          <a:xfrm>
            <a:off x="909404" y="3930140"/>
            <a:ext cx="566976" cy="566976"/>
          </a:xfrm>
          <a:prstGeom prst="rect">
            <a:avLst/>
          </a:prstGeom>
        </p:spPr>
      </p:pic>
      <p:sp>
        <p:nvSpPr>
          <p:cNvPr id="5" name="Text 1"/>
          <p:cNvSpPr/>
          <p:nvPr/>
        </p:nvSpPr>
        <p:spPr>
          <a:xfrm>
            <a:off x="1632585" y="402007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Efficient Search</a:t>
            </a:r>
            <a:endParaRPr lang="en-US" sz="2200" dirty="0"/>
          </a:p>
        </p:txBody>
      </p:sp>
      <p:sp>
        <p:nvSpPr>
          <p:cNvPr id="6" name="Text 2"/>
          <p:cNvSpPr/>
          <p:nvPr/>
        </p:nvSpPr>
        <p:spPr>
          <a:xfrm>
            <a:off x="1587579" y="4492586"/>
            <a:ext cx="676263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Users can locate products using keywords, Name of the product, or the ID significantly reducing lookup time.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13" name="Picture 12" descr="A white background with dots and lines&#10;&#10;AI-generated content may be incorrect.">
            <a:extLst>
              <a:ext uri="{FF2B5EF4-FFF2-40B4-BE49-F238E27FC236}">
                <a16:creationId xmlns:a16="http://schemas.microsoft.com/office/drawing/2014/main" id="{17C33197-ED7B-1836-A346-A3697DBA6344}"/>
              </a:ext>
            </a:extLst>
          </p:cNvPr>
          <p:cNvPicPr>
            <a:picLocks noChangeAspect="1"/>
          </p:cNvPicPr>
          <p:nvPr/>
        </p:nvPicPr>
        <p:blipFill>
          <a:blip r:embed="rId3"/>
          <a:stretch>
            <a:fillRect/>
          </a:stretch>
        </p:blipFill>
        <p:spPr>
          <a:xfrm>
            <a:off x="0" y="2977"/>
            <a:ext cx="14630400" cy="8229600"/>
          </a:xfrm>
          <a:prstGeom prst="rect">
            <a:avLst/>
          </a:prstGeom>
        </p:spPr>
      </p:pic>
      <p:pic>
        <p:nvPicPr>
          <p:cNvPr id="2" name="Image 0" descr="preencoded.png"/>
          <p:cNvPicPr>
            <a:picLocks noChangeAspect="1"/>
          </p:cNvPicPr>
          <p:nvPr/>
        </p:nvPicPr>
        <p:blipFill>
          <a:blip r:embed="rId4"/>
          <a:stretch>
            <a:fillRect/>
          </a:stretch>
        </p:blipFill>
        <p:spPr>
          <a:xfrm>
            <a:off x="9144000" y="0"/>
            <a:ext cx="5486400" cy="8232577"/>
          </a:xfrm>
          <a:prstGeom prst="rect">
            <a:avLst/>
          </a:prstGeom>
        </p:spPr>
      </p:pic>
      <p:sp>
        <p:nvSpPr>
          <p:cNvPr id="3" name="Text 0"/>
          <p:cNvSpPr/>
          <p:nvPr/>
        </p:nvSpPr>
        <p:spPr>
          <a:xfrm>
            <a:off x="780098" y="612934"/>
            <a:ext cx="7583805" cy="1393031"/>
          </a:xfrm>
          <a:prstGeom prst="rect">
            <a:avLst/>
          </a:prstGeom>
          <a:noFill/>
          <a:ln/>
        </p:spPr>
        <p:txBody>
          <a:bodyPr wrap="square" lIns="0" tIns="0" rIns="0" bIns="0" rtlCol="0" anchor="t"/>
          <a:lstStyle/>
          <a:p>
            <a:pPr marL="0" indent="0" algn="l">
              <a:lnSpc>
                <a:spcPts val="5450"/>
              </a:lnSpc>
              <a:buNone/>
            </a:pPr>
            <a:r>
              <a:rPr lang="en-US" sz="4350" b="1" dirty="0">
                <a:solidFill>
                  <a:srgbClr val="000000"/>
                </a:solidFill>
                <a:latin typeface="Inter Bold" pitchFamily="34" charset="0"/>
                <a:ea typeface="Inter Bold" pitchFamily="34" charset="-122"/>
                <a:cs typeface="Inter Bold" pitchFamily="34" charset="-120"/>
              </a:rPr>
              <a:t>Export Products to CSV Feature</a:t>
            </a:r>
            <a:endParaRPr lang="en-US" sz="4350" dirty="0"/>
          </a:p>
        </p:txBody>
      </p:sp>
      <p:pic>
        <p:nvPicPr>
          <p:cNvPr id="4" name="Image 1" descr="preencoded.png"/>
          <p:cNvPicPr>
            <a:picLocks noChangeAspect="1"/>
          </p:cNvPicPr>
          <p:nvPr/>
        </p:nvPicPr>
        <p:blipFill>
          <a:blip r:embed="rId5"/>
          <a:stretch>
            <a:fillRect/>
          </a:stretch>
        </p:blipFill>
        <p:spPr>
          <a:xfrm>
            <a:off x="780098" y="2340293"/>
            <a:ext cx="1114425" cy="1640919"/>
          </a:xfrm>
          <a:prstGeom prst="rect">
            <a:avLst/>
          </a:prstGeom>
        </p:spPr>
      </p:pic>
      <p:sp>
        <p:nvSpPr>
          <p:cNvPr id="5" name="Text 1"/>
          <p:cNvSpPr/>
          <p:nvPr/>
        </p:nvSpPr>
        <p:spPr>
          <a:xfrm>
            <a:off x="2228850" y="2563178"/>
            <a:ext cx="2786301" cy="34825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Data Export</a:t>
            </a:r>
            <a:endParaRPr lang="en-US" sz="2150" dirty="0"/>
          </a:p>
        </p:txBody>
      </p:sp>
      <p:sp>
        <p:nvSpPr>
          <p:cNvPr id="6" name="Text 2"/>
          <p:cNvSpPr/>
          <p:nvPr/>
        </p:nvSpPr>
        <p:spPr>
          <a:xfrm>
            <a:off x="2228850" y="3045143"/>
            <a:ext cx="6135053" cy="713184"/>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Inter" pitchFamily="34" charset="0"/>
                <a:ea typeface="Inter" pitchFamily="34" charset="-122"/>
                <a:cs typeface="Inter" pitchFamily="34" charset="-120"/>
              </a:rPr>
              <a:t>Users choose to export the entire product list with up-to-date information.</a:t>
            </a:r>
            <a:endParaRPr lang="en-US" sz="1750" dirty="0"/>
          </a:p>
        </p:txBody>
      </p:sp>
      <p:pic>
        <p:nvPicPr>
          <p:cNvPr id="7" name="Image 2" descr="preencoded.png"/>
          <p:cNvPicPr>
            <a:picLocks noChangeAspect="1"/>
          </p:cNvPicPr>
          <p:nvPr/>
        </p:nvPicPr>
        <p:blipFill>
          <a:blip r:embed="rId6"/>
          <a:stretch>
            <a:fillRect/>
          </a:stretch>
        </p:blipFill>
        <p:spPr>
          <a:xfrm>
            <a:off x="780098" y="3981212"/>
            <a:ext cx="1114425" cy="1997512"/>
          </a:xfrm>
          <a:prstGeom prst="rect">
            <a:avLst/>
          </a:prstGeom>
        </p:spPr>
      </p:pic>
      <p:sp>
        <p:nvSpPr>
          <p:cNvPr id="8" name="Text 3"/>
          <p:cNvSpPr/>
          <p:nvPr/>
        </p:nvSpPr>
        <p:spPr>
          <a:xfrm>
            <a:off x="2228850" y="4204097"/>
            <a:ext cx="2786301" cy="34825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CSV Format</a:t>
            </a:r>
            <a:endParaRPr lang="en-US" sz="2150" dirty="0"/>
          </a:p>
        </p:txBody>
      </p:sp>
      <p:sp>
        <p:nvSpPr>
          <p:cNvPr id="9" name="Text 4"/>
          <p:cNvSpPr/>
          <p:nvPr/>
        </p:nvSpPr>
        <p:spPr>
          <a:xfrm>
            <a:off x="2228850" y="4686062"/>
            <a:ext cx="6135053" cy="1069777"/>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Inter" pitchFamily="34" charset="0"/>
                <a:ea typeface="Inter" pitchFamily="34" charset="-122"/>
                <a:cs typeface="Inter" pitchFamily="34" charset="-120"/>
              </a:rPr>
              <a:t>The system converts data into comma-separated values, compatible with spreadsheet software and data analysis tools.</a:t>
            </a:r>
            <a:endParaRPr lang="en-US" sz="1750" dirty="0"/>
          </a:p>
        </p:txBody>
      </p:sp>
      <p:pic>
        <p:nvPicPr>
          <p:cNvPr id="10" name="Image 3" descr="preencoded.png"/>
          <p:cNvPicPr>
            <a:picLocks noChangeAspect="1"/>
          </p:cNvPicPr>
          <p:nvPr/>
        </p:nvPicPr>
        <p:blipFill>
          <a:blip r:embed="rId7"/>
          <a:stretch>
            <a:fillRect/>
          </a:stretch>
        </p:blipFill>
        <p:spPr>
          <a:xfrm>
            <a:off x="780098" y="5978723"/>
            <a:ext cx="1114425" cy="1640919"/>
          </a:xfrm>
          <a:prstGeom prst="rect">
            <a:avLst/>
          </a:prstGeom>
        </p:spPr>
      </p:pic>
      <p:sp>
        <p:nvSpPr>
          <p:cNvPr id="11" name="Text 5"/>
          <p:cNvSpPr/>
          <p:nvPr/>
        </p:nvSpPr>
        <p:spPr>
          <a:xfrm>
            <a:off x="2228850" y="6201608"/>
            <a:ext cx="3063835" cy="34825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Download and Sharing</a:t>
            </a:r>
            <a:endParaRPr lang="en-US" sz="2150" dirty="0"/>
          </a:p>
        </p:txBody>
      </p:sp>
      <p:sp>
        <p:nvSpPr>
          <p:cNvPr id="12" name="Text 6"/>
          <p:cNvSpPr/>
          <p:nvPr/>
        </p:nvSpPr>
        <p:spPr>
          <a:xfrm>
            <a:off x="2228850" y="6683573"/>
            <a:ext cx="6135053" cy="713184"/>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Inter" pitchFamily="34" charset="0"/>
                <a:ea typeface="Inter" pitchFamily="34" charset="-122"/>
                <a:cs typeface="Inter" pitchFamily="34" charset="-120"/>
              </a:rPr>
              <a:t>Once exported, users can download the CSV file for reporting, sharing, or backup purposes.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7" name="Picture 6" descr="A white background with dots and lines&#10;&#10;AI-generated content may be incorrect.">
            <a:extLst>
              <a:ext uri="{FF2B5EF4-FFF2-40B4-BE49-F238E27FC236}">
                <a16:creationId xmlns:a16="http://schemas.microsoft.com/office/drawing/2014/main" id="{EB02575D-2C4C-03FB-BCCC-A9FFFF7D0347}"/>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793790" y="2539960"/>
            <a:ext cx="8230076"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System User Interface Design</a:t>
            </a:r>
            <a:endParaRPr lang="en-US" sz="4450" dirty="0"/>
          </a:p>
        </p:txBody>
      </p:sp>
      <p:sp>
        <p:nvSpPr>
          <p:cNvPr id="5" name="Text 3"/>
          <p:cNvSpPr/>
          <p:nvPr/>
        </p:nvSpPr>
        <p:spPr>
          <a:xfrm>
            <a:off x="1030556" y="363855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Responsive Layout</a:t>
            </a:r>
            <a:endParaRPr lang="en-US" sz="2200" dirty="0"/>
          </a:p>
        </p:txBody>
      </p:sp>
      <p:sp>
        <p:nvSpPr>
          <p:cNvPr id="6" name="Text 4"/>
          <p:cNvSpPr/>
          <p:nvPr/>
        </p:nvSpPr>
        <p:spPr>
          <a:xfrm>
            <a:off x="1070491" y="4282297"/>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interface adapts to various devices, ensuring seamless user experience on desktops, tablets, and mobile devices alike.</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16" name="Picture 15" descr="A white background with dots and lines&#10;&#10;AI-generated content may be incorrect.">
            <a:extLst>
              <a:ext uri="{FF2B5EF4-FFF2-40B4-BE49-F238E27FC236}">
                <a16:creationId xmlns:a16="http://schemas.microsoft.com/office/drawing/2014/main" id="{BD98A560-6B80-FE00-2FAA-850D796BAF8D}"/>
              </a:ext>
            </a:extLst>
          </p:cNvPr>
          <p:cNvPicPr>
            <a:picLocks noChangeAspect="1"/>
          </p:cNvPicPr>
          <p:nvPr/>
        </p:nvPicPr>
        <p:blipFill>
          <a:blip r:embed="rId3"/>
          <a:stretch>
            <a:fillRect/>
          </a:stretch>
        </p:blipFill>
        <p:spPr>
          <a:xfrm>
            <a:off x="0" y="0"/>
            <a:ext cx="14630400" cy="8229600"/>
          </a:xfrm>
          <a:prstGeom prst="rect">
            <a:avLst/>
          </a:prstGeom>
        </p:spPr>
      </p:pic>
      <p:pic>
        <p:nvPicPr>
          <p:cNvPr id="2" name="Image 0" descr="preencoded.png"/>
          <p:cNvPicPr>
            <a:picLocks noChangeAspect="1"/>
          </p:cNvPicPr>
          <p:nvPr/>
        </p:nvPicPr>
        <p:blipFill>
          <a:blip r:embed="rId4"/>
          <a:stretch>
            <a:fillRect/>
          </a:stretch>
        </p:blipFill>
        <p:spPr>
          <a:xfrm>
            <a:off x="9144000" y="0"/>
            <a:ext cx="5486400" cy="8229600"/>
          </a:xfrm>
          <a:prstGeom prst="rect">
            <a:avLst/>
          </a:prstGeom>
        </p:spPr>
      </p:pic>
      <p:sp>
        <p:nvSpPr>
          <p:cNvPr id="3" name="Text 0"/>
          <p:cNvSpPr/>
          <p:nvPr/>
        </p:nvSpPr>
        <p:spPr>
          <a:xfrm>
            <a:off x="793790" y="1706523"/>
            <a:ext cx="7423309"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Security and Data Integrity</a:t>
            </a:r>
            <a:endParaRPr lang="en-US" sz="4450" dirty="0"/>
          </a:p>
        </p:txBody>
      </p:sp>
      <p:sp>
        <p:nvSpPr>
          <p:cNvPr id="4" name="Shape 1"/>
          <p:cNvSpPr/>
          <p:nvPr/>
        </p:nvSpPr>
        <p:spPr>
          <a:xfrm>
            <a:off x="793790" y="2755463"/>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5" name="Text 2"/>
          <p:cNvSpPr/>
          <p:nvPr/>
        </p:nvSpPr>
        <p:spPr>
          <a:xfrm>
            <a:off x="878860" y="2797969"/>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1</a:t>
            </a:r>
            <a:endParaRPr lang="en-US" sz="2650" dirty="0"/>
          </a:p>
        </p:txBody>
      </p:sp>
      <p:sp>
        <p:nvSpPr>
          <p:cNvPr id="6" name="Text 3"/>
          <p:cNvSpPr/>
          <p:nvPr/>
        </p:nvSpPr>
        <p:spPr>
          <a:xfrm>
            <a:off x="1530906" y="283333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User Authentication</a:t>
            </a:r>
            <a:endParaRPr lang="en-US" sz="2200" dirty="0"/>
          </a:p>
        </p:txBody>
      </p:sp>
      <p:sp>
        <p:nvSpPr>
          <p:cNvPr id="7" name="Text 4"/>
          <p:cNvSpPr/>
          <p:nvPr/>
        </p:nvSpPr>
        <p:spPr>
          <a:xfrm>
            <a:off x="1530906" y="3323749"/>
            <a:ext cx="289941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Robust password policies and secure sessions protect user data from unauthorized access.</a:t>
            </a:r>
            <a:endParaRPr lang="en-US" sz="1750" dirty="0"/>
          </a:p>
        </p:txBody>
      </p:sp>
      <p:sp>
        <p:nvSpPr>
          <p:cNvPr id="8" name="Shape 5"/>
          <p:cNvSpPr/>
          <p:nvPr/>
        </p:nvSpPr>
        <p:spPr>
          <a:xfrm>
            <a:off x="4713803" y="2755463"/>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9" name="Text 6"/>
          <p:cNvSpPr/>
          <p:nvPr/>
        </p:nvSpPr>
        <p:spPr>
          <a:xfrm>
            <a:off x="4798874" y="2797969"/>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2</a:t>
            </a:r>
            <a:endParaRPr lang="en-US" sz="2650" dirty="0"/>
          </a:p>
        </p:txBody>
      </p:sp>
      <p:sp>
        <p:nvSpPr>
          <p:cNvPr id="10" name="Text 7"/>
          <p:cNvSpPr/>
          <p:nvPr/>
        </p:nvSpPr>
        <p:spPr>
          <a:xfrm>
            <a:off x="5450919" y="283333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Data Validation</a:t>
            </a:r>
            <a:endParaRPr lang="en-US" sz="2200" dirty="0"/>
          </a:p>
        </p:txBody>
      </p:sp>
      <p:sp>
        <p:nvSpPr>
          <p:cNvPr id="11" name="Text 8"/>
          <p:cNvSpPr/>
          <p:nvPr/>
        </p:nvSpPr>
        <p:spPr>
          <a:xfrm>
            <a:off x="5450919" y="3323749"/>
            <a:ext cx="289941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Input validation prevents data corruption and ensures reliable inventory records.</a:t>
            </a:r>
            <a:endParaRPr lang="en-US" sz="1750" dirty="0"/>
          </a:p>
        </p:txBody>
      </p:sp>
      <p:sp>
        <p:nvSpPr>
          <p:cNvPr id="12" name="Shape 9"/>
          <p:cNvSpPr/>
          <p:nvPr/>
        </p:nvSpPr>
        <p:spPr>
          <a:xfrm>
            <a:off x="793790" y="5228987"/>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13" name="Text 10"/>
          <p:cNvSpPr/>
          <p:nvPr/>
        </p:nvSpPr>
        <p:spPr>
          <a:xfrm>
            <a:off x="878860" y="5271492"/>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3</a:t>
            </a:r>
            <a:endParaRPr lang="en-US" sz="2650" dirty="0"/>
          </a:p>
        </p:txBody>
      </p:sp>
      <p:sp>
        <p:nvSpPr>
          <p:cNvPr id="14" name="Text 11"/>
          <p:cNvSpPr/>
          <p:nvPr/>
        </p:nvSpPr>
        <p:spPr>
          <a:xfrm>
            <a:off x="1530906" y="5306854"/>
            <a:ext cx="2835235" cy="354330"/>
          </a:xfrm>
          <a:prstGeom prst="rect">
            <a:avLst/>
          </a:prstGeom>
          <a:noFill/>
          <a:ln/>
        </p:spPr>
        <p:txBody>
          <a:bodyPr wrap="none" lIns="0" tIns="0" rIns="0" bIns="0" rtlCol="0" anchor="t"/>
          <a:lstStyle/>
          <a:p>
            <a:pPr marL="0" indent="0" algn="l">
              <a:lnSpc>
                <a:spcPts val="2750"/>
              </a:lnSpc>
              <a:buNone/>
            </a:pPr>
            <a:r>
              <a:rPr lang="en-US" sz="2400" b="1" dirty="0"/>
              <a:t>Password Encryption</a:t>
            </a:r>
            <a:endParaRPr lang="en-US" sz="2200" b="1" dirty="0"/>
          </a:p>
        </p:txBody>
      </p:sp>
      <p:sp>
        <p:nvSpPr>
          <p:cNvPr id="15" name="Text 12"/>
          <p:cNvSpPr/>
          <p:nvPr/>
        </p:nvSpPr>
        <p:spPr>
          <a:xfrm>
            <a:off x="1530906" y="5797272"/>
            <a:ext cx="6819305" cy="725805"/>
          </a:xfrm>
          <a:prstGeom prst="rect">
            <a:avLst/>
          </a:prstGeom>
          <a:noFill/>
          <a:ln/>
        </p:spPr>
        <p:txBody>
          <a:bodyPr wrap="square" lIns="0" tIns="0" rIns="0" bIns="0" rtlCol="0" anchor="t"/>
          <a:lstStyle/>
          <a:p>
            <a:pPr marL="0" indent="0" algn="l">
              <a:lnSpc>
                <a:spcPts val="2850"/>
              </a:lnSpc>
              <a:buNone/>
            </a:pPr>
            <a:r>
              <a:rPr lang="en-US" sz="1600" dirty="0"/>
              <a:t>User passwords are encrypted using secure hashing algorithms to prevent exposure in case of data breaches.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13" name="Picture 12" descr="A white background with dots and lines&#10;&#10;AI-generated content may be incorrect.">
            <a:extLst>
              <a:ext uri="{FF2B5EF4-FFF2-40B4-BE49-F238E27FC236}">
                <a16:creationId xmlns:a16="http://schemas.microsoft.com/office/drawing/2014/main" id="{7C246CD8-8BF2-67B5-7E43-0BCF8715CFD5}"/>
              </a:ext>
            </a:extLst>
          </p:cNvPr>
          <p:cNvPicPr>
            <a:picLocks noChangeAspect="1"/>
          </p:cNvPicPr>
          <p:nvPr/>
        </p:nvPicPr>
        <p:blipFill>
          <a:blip r:embed="rId3"/>
          <a:stretch>
            <a:fillRect/>
          </a:stretch>
        </p:blipFill>
        <p:spPr>
          <a:xfrm>
            <a:off x="0" y="0"/>
            <a:ext cx="14630400" cy="8229600"/>
          </a:xfrm>
          <a:prstGeom prst="rect">
            <a:avLst/>
          </a:prstGeom>
        </p:spPr>
      </p:pic>
      <p:pic>
        <p:nvPicPr>
          <p:cNvPr id="2" name="Image 0" descr="preencoded.png"/>
          <p:cNvPicPr>
            <a:picLocks noChangeAspect="1"/>
          </p:cNvPicPr>
          <p:nvPr/>
        </p:nvPicPr>
        <p:blipFill>
          <a:blip r:embed="rId4"/>
          <a:stretch>
            <a:fillRect/>
          </a:stretch>
        </p:blipFill>
        <p:spPr>
          <a:xfrm>
            <a:off x="9144000" y="0"/>
            <a:ext cx="5486400" cy="8229600"/>
          </a:xfrm>
          <a:prstGeom prst="rect">
            <a:avLst/>
          </a:prstGeom>
        </p:spPr>
      </p:pic>
      <p:sp>
        <p:nvSpPr>
          <p:cNvPr id="3" name="Text 0"/>
          <p:cNvSpPr/>
          <p:nvPr/>
        </p:nvSpPr>
        <p:spPr>
          <a:xfrm>
            <a:off x="829668" y="1321498"/>
            <a:ext cx="7589520" cy="1387793"/>
          </a:xfrm>
          <a:prstGeom prst="rect">
            <a:avLst/>
          </a:prstGeom>
          <a:noFill/>
          <a:ln/>
        </p:spPr>
        <p:txBody>
          <a:bodyPr wrap="square" lIns="0" tIns="0" rIns="0" bIns="0" rtlCol="0" anchor="t"/>
          <a:lstStyle/>
          <a:p>
            <a:pPr marL="0" indent="0" algn="l">
              <a:lnSpc>
                <a:spcPts val="5450"/>
              </a:lnSpc>
              <a:buNone/>
            </a:pPr>
            <a:r>
              <a:rPr lang="en-US" sz="4400" b="1" dirty="0"/>
              <a:t>Conclusion</a:t>
            </a:r>
            <a:endParaRPr lang="en-US" sz="4350" b="1" dirty="0"/>
          </a:p>
        </p:txBody>
      </p:sp>
      <p:sp>
        <p:nvSpPr>
          <p:cNvPr id="4" name="Shape 1"/>
          <p:cNvSpPr/>
          <p:nvPr/>
        </p:nvSpPr>
        <p:spPr>
          <a:xfrm>
            <a:off x="777240" y="2507576"/>
            <a:ext cx="3683794" cy="2222080"/>
          </a:xfrm>
          <a:prstGeom prst="roundRect">
            <a:avLst>
              <a:gd name="adj" fmla="val 3045"/>
            </a:avLst>
          </a:prstGeom>
          <a:solidFill>
            <a:srgbClr val="DADBF1"/>
          </a:solidFill>
          <a:ln w="7620">
            <a:solidFill>
              <a:srgbClr val="C0C1D7"/>
            </a:solidFill>
            <a:prstDash val="solid"/>
          </a:ln>
        </p:spPr>
        <p:txBody>
          <a:bodyPr/>
          <a:lstStyle/>
          <a:p>
            <a:endParaRPr lang="en-US"/>
          </a:p>
        </p:txBody>
      </p:sp>
      <p:sp>
        <p:nvSpPr>
          <p:cNvPr id="6" name="Text 3"/>
          <p:cNvSpPr/>
          <p:nvPr/>
        </p:nvSpPr>
        <p:spPr>
          <a:xfrm>
            <a:off x="1007458" y="2773144"/>
            <a:ext cx="3224451" cy="1776413"/>
          </a:xfrm>
          <a:prstGeom prst="rect">
            <a:avLst/>
          </a:prstGeom>
          <a:noFill/>
          <a:ln/>
        </p:spPr>
        <p:txBody>
          <a:bodyPr wrap="square" lIns="0" tIns="0" rIns="0" bIns="0" rtlCol="0" anchor="t"/>
          <a:lstStyle/>
          <a:p>
            <a:pPr marL="0" indent="0" algn="l">
              <a:lnSpc>
                <a:spcPts val="2750"/>
              </a:lnSpc>
              <a:buNone/>
            </a:pPr>
            <a:r>
              <a:rPr lang="en-US" sz="1600" dirty="0"/>
              <a:t>The Inventory Management System provides </a:t>
            </a:r>
            <a:r>
              <a:rPr lang="en-US" sz="1600" b="1" dirty="0"/>
              <a:t>secure login and registration</a:t>
            </a:r>
            <a:r>
              <a:rPr lang="en-US" sz="1600" dirty="0"/>
              <a:t>, ensuring that only authorized users access the platform.</a:t>
            </a:r>
            <a:endParaRPr lang="en-US" sz="1700" dirty="0"/>
          </a:p>
        </p:txBody>
      </p:sp>
      <p:sp>
        <p:nvSpPr>
          <p:cNvPr id="7" name="Shape 4"/>
          <p:cNvSpPr/>
          <p:nvPr/>
        </p:nvSpPr>
        <p:spPr>
          <a:xfrm>
            <a:off x="4691252" y="3090040"/>
            <a:ext cx="3683794" cy="1548635"/>
          </a:xfrm>
          <a:prstGeom prst="roundRect">
            <a:avLst>
              <a:gd name="adj" fmla="val 3045"/>
            </a:avLst>
          </a:prstGeom>
          <a:solidFill>
            <a:srgbClr val="DADBF1"/>
          </a:solidFill>
          <a:ln w="7620">
            <a:solidFill>
              <a:srgbClr val="C0C1D7"/>
            </a:solidFill>
            <a:prstDash val="solid"/>
          </a:ln>
        </p:spPr>
        <p:txBody>
          <a:bodyPr/>
          <a:lstStyle/>
          <a:p>
            <a:endParaRPr lang="en-US" dirty="0"/>
          </a:p>
        </p:txBody>
      </p:sp>
      <p:sp>
        <p:nvSpPr>
          <p:cNvPr id="9" name="Text 6"/>
          <p:cNvSpPr/>
          <p:nvPr/>
        </p:nvSpPr>
        <p:spPr>
          <a:xfrm>
            <a:off x="4912757" y="3217545"/>
            <a:ext cx="3224451" cy="1421130"/>
          </a:xfrm>
          <a:prstGeom prst="rect">
            <a:avLst/>
          </a:prstGeom>
          <a:noFill/>
          <a:ln/>
        </p:spPr>
        <p:txBody>
          <a:bodyPr wrap="square" lIns="0" tIns="0" rIns="0" bIns="0" rtlCol="0" anchor="t"/>
          <a:lstStyle/>
          <a:p>
            <a:pPr marL="0" indent="0" algn="l">
              <a:lnSpc>
                <a:spcPts val="2750"/>
              </a:lnSpc>
              <a:buNone/>
            </a:pPr>
            <a:r>
              <a:rPr lang="en-US" sz="1600" dirty="0"/>
              <a:t>It allows users to </a:t>
            </a:r>
            <a:r>
              <a:rPr lang="en-US" sz="1600" b="1" dirty="0"/>
              <a:t>add, edit, and delete products</a:t>
            </a:r>
            <a:r>
              <a:rPr lang="en-US" sz="1600" dirty="0"/>
              <a:t>, offering full control over the inventory database.</a:t>
            </a:r>
            <a:endParaRPr lang="en-US" sz="1700" dirty="0"/>
          </a:p>
        </p:txBody>
      </p:sp>
      <p:sp>
        <p:nvSpPr>
          <p:cNvPr id="10" name="Shape 7"/>
          <p:cNvSpPr/>
          <p:nvPr/>
        </p:nvSpPr>
        <p:spPr>
          <a:xfrm>
            <a:off x="785526" y="5792748"/>
            <a:ext cx="7589520" cy="902342"/>
          </a:xfrm>
          <a:prstGeom prst="roundRect">
            <a:avLst>
              <a:gd name="adj" fmla="val 5653"/>
            </a:avLst>
          </a:prstGeom>
          <a:solidFill>
            <a:srgbClr val="DADBF1"/>
          </a:solidFill>
          <a:ln w="7620">
            <a:solidFill>
              <a:srgbClr val="C0C1D7"/>
            </a:solidFill>
            <a:prstDash val="solid"/>
          </a:ln>
        </p:spPr>
        <p:txBody>
          <a:bodyPr/>
          <a:lstStyle/>
          <a:p>
            <a:endParaRPr lang="en-US"/>
          </a:p>
        </p:txBody>
      </p:sp>
      <p:sp>
        <p:nvSpPr>
          <p:cNvPr id="12" name="Text 9"/>
          <p:cNvSpPr/>
          <p:nvPr/>
        </p:nvSpPr>
        <p:spPr>
          <a:xfrm>
            <a:off x="1126163" y="6065159"/>
            <a:ext cx="7130177" cy="710565"/>
          </a:xfrm>
          <a:prstGeom prst="rect">
            <a:avLst/>
          </a:prstGeom>
          <a:noFill/>
          <a:ln/>
        </p:spPr>
        <p:txBody>
          <a:bodyPr wrap="square" lIns="0" tIns="0" rIns="0" bIns="0" rtlCol="0" anchor="t"/>
          <a:lstStyle/>
          <a:p>
            <a:pPr marL="0" indent="0" algn="l">
              <a:lnSpc>
                <a:spcPts val="2750"/>
              </a:lnSpc>
              <a:buNone/>
            </a:pPr>
            <a:r>
              <a:rPr lang="en-US" sz="1600" dirty="0"/>
              <a:t>The </a:t>
            </a:r>
            <a:r>
              <a:rPr lang="en-US" sz="1600" b="1" dirty="0"/>
              <a:t>real-time search functionality</a:t>
            </a:r>
            <a:r>
              <a:rPr lang="en-US" sz="1600" dirty="0"/>
              <a:t> helps users quickly locate specific products.</a:t>
            </a:r>
            <a:endParaRPr lang="en-US" sz="1700" dirty="0"/>
          </a:p>
        </p:txBody>
      </p:sp>
      <p:sp>
        <p:nvSpPr>
          <p:cNvPr id="14" name="Shape 7">
            <a:extLst>
              <a:ext uri="{FF2B5EF4-FFF2-40B4-BE49-F238E27FC236}">
                <a16:creationId xmlns:a16="http://schemas.microsoft.com/office/drawing/2014/main" id="{42B80F62-8E5B-771D-45A4-D5CA9C9B2011}"/>
              </a:ext>
            </a:extLst>
          </p:cNvPr>
          <p:cNvSpPr/>
          <p:nvPr/>
        </p:nvSpPr>
        <p:spPr>
          <a:xfrm>
            <a:off x="785526" y="6822795"/>
            <a:ext cx="7589520" cy="902342"/>
          </a:xfrm>
          <a:prstGeom prst="roundRect">
            <a:avLst>
              <a:gd name="adj" fmla="val 5653"/>
            </a:avLst>
          </a:prstGeom>
          <a:solidFill>
            <a:srgbClr val="DADBF1"/>
          </a:solidFill>
          <a:ln w="7620">
            <a:solidFill>
              <a:srgbClr val="C0C1D7"/>
            </a:solidFill>
            <a:prstDash val="solid"/>
          </a:ln>
        </p:spPr>
        <p:txBody>
          <a:bodyPr/>
          <a:lstStyle/>
          <a:p>
            <a:endParaRPr lang="en-US" dirty="0"/>
          </a:p>
        </p:txBody>
      </p:sp>
      <p:sp>
        <p:nvSpPr>
          <p:cNvPr id="15" name="Text 9">
            <a:extLst>
              <a:ext uri="{FF2B5EF4-FFF2-40B4-BE49-F238E27FC236}">
                <a16:creationId xmlns:a16="http://schemas.microsoft.com/office/drawing/2014/main" id="{6DF923C4-B7CF-7CB3-15D5-7078298E4D24}"/>
              </a:ext>
            </a:extLst>
          </p:cNvPr>
          <p:cNvSpPr/>
          <p:nvPr/>
        </p:nvSpPr>
        <p:spPr>
          <a:xfrm>
            <a:off x="1059341" y="6929032"/>
            <a:ext cx="7130177" cy="710565"/>
          </a:xfrm>
          <a:prstGeom prst="rect">
            <a:avLst/>
          </a:prstGeom>
          <a:noFill/>
          <a:ln/>
        </p:spPr>
        <p:txBody>
          <a:bodyPr wrap="square" lIns="0" tIns="0" rIns="0" bIns="0" rtlCol="0" anchor="t"/>
          <a:lstStyle/>
          <a:p>
            <a:pPr marL="0" indent="0" algn="l">
              <a:lnSpc>
                <a:spcPts val="2750"/>
              </a:lnSpc>
              <a:buNone/>
            </a:pPr>
            <a:r>
              <a:rPr lang="en-US" sz="1600" dirty="0"/>
              <a:t>Overall, the system is </a:t>
            </a:r>
            <a:r>
              <a:rPr lang="en-US" sz="1600" b="1" dirty="0"/>
              <a:t>user-friendly</a:t>
            </a:r>
            <a:r>
              <a:rPr lang="en-US" sz="1600" dirty="0"/>
              <a:t>, </a:t>
            </a:r>
            <a:r>
              <a:rPr lang="en-US" sz="1600" b="1" dirty="0"/>
              <a:t>efficient</a:t>
            </a:r>
            <a:r>
              <a:rPr lang="en-US" sz="1600" dirty="0"/>
              <a:t>, and </a:t>
            </a:r>
            <a:r>
              <a:rPr lang="en-US" sz="1600" b="1" dirty="0"/>
              <a:t>scalable</a:t>
            </a:r>
            <a:r>
              <a:rPr lang="en-US" sz="1600" dirty="0"/>
              <a:t>, making it ideal for both small businesses and larger operations.</a:t>
            </a:r>
            <a:endParaRPr lang="en-US" sz="1700" dirty="0"/>
          </a:p>
        </p:txBody>
      </p:sp>
      <p:sp>
        <p:nvSpPr>
          <p:cNvPr id="16" name="Shape 7">
            <a:extLst>
              <a:ext uri="{FF2B5EF4-FFF2-40B4-BE49-F238E27FC236}">
                <a16:creationId xmlns:a16="http://schemas.microsoft.com/office/drawing/2014/main" id="{3026ACEA-4D2C-5DA9-9E7E-B33A281C9775}"/>
              </a:ext>
            </a:extLst>
          </p:cNvPr>
          <p:cNvSpPr/>
          <p:nvPr/>
        </p:nvSpPr>
        <p:spPr>
          <a:xfrm>
            <a:off x="777240" y="4923753"/>
            <a:ext cx="7589520" cy="649610"/>
          </a:xfrm>
          <a:prstGeom prst="roundRect">
            <a:avLst>
              <a:gd name="adj" fmla="val 5653"/>
            </a:avLst>
          </a:prstGeom>
          <a:solidFill>
            <a:srgbClr val="DADBF1"/>
          </a:solidFill>
          <a:ln w="7620">
            <a:solidFill>
              <a:srgbClr val="C0C1D7"/>
            </a:solidFill>
            <a:prstDash val="solid"/>
          </a:ln>
        </p:spPr>
        <p:txBody>
          <a:bodyPr/>
          <a:lstStyle/>
          <a:p>
            <a:endParaRPr lang="en-US"/>
          </a:p>
        </p:txBody>
      </p:sp>
      <p:sp>
        <p:nvSpPr>
          <p:cNvPr id="17" name="Text 9">
            <a:extLst>
              <a:ext uri="{FF2B5EF4-FFF2-40B4-BE49-F238E27FC236}">
                <a16:creationId xmlns:a16="http://schemas.microsoft.com/office/drawing/2014/main" id="{2C2B6CC5-BDE9-F308-88F9-61613D608F81}"/>
              </a:ext>
            </a:extLst>
          </p:cNvPr>
          <p:cNvSpPr/>
          <p:nvPr/>
        </p:nvSpPr>
        <p:spPr>
          <a:xfrm>
            <a:off x="1059340" y="5082183"/>
            <a:ext cx="7130177" cy="710565"/>
          </a:xfrm>
          <a:prstGeom prst="rect">
            <a:avLst/>
          </a:prstGeom>
          <a:noFill/>
          <a:ln/>
        </p:spPr>
        <p:txBody>
          <a:bodyPr wrap="square" lIns="0" tIns="0" rIns="0" bIns="0" rtlCol="0" anchor="t"/>
          <a:lstStyle/>
          <a:p>
            <a:pPr marL="0" indent="0" algn="l">
              <a:lnSpc>
                <a:spcPts val="2750"/>
              </a:lnSpc>
              <a:buNone/>
            </a:pPr>
            <a:r>
              <a:rPr lang="en-US" sz="1600" dirty="0"/>
              <a:t>The </a:t>
            </a:r>
            <a:r>
              <a:rPr lang="en-US" sz="1600" b="1" dirty="0"/>
              <a:t>CSV export feature</a:t>
            </a:r>
            <a:r>
              <a:rPr lang="en-US" sz="1600" dirty="0"/>
              <a:t> enables easy backup and external use of product data.</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521</Words>
  <Application>Microsoft Office PowerPoint</Application>
  <PresentationFormat>Custom</PresentationFormat>
  <Paragraphs>59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John Rix Domaoal</cp:lastModifiedBy>
  <cp:revision>13</cp:revision>
  <dcterms:created xsi:type="dcterms:W3CDTF">2025-05-03T12:18:18Z</dcterms:created>
  <dcterms:modified xsi:type="dcterms:W3CDTF">2025-05-03T13:01:33Z</dcterms:modified>
</cp:coreProperties>
</file>